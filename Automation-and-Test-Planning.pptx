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16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21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Text 1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SAUCEDEMO  /  PLAYWRIGHT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Zsilak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8046720" y="-1463040"/>
            <a:ext cx="5120640" cy="5120640"/>
          </a:xfrm>
          <a:prstGeom prst="ellipse">
            <a:avLst/>
          </a:prstGeom>
          <a:solidFill>
            <a:srgbClr val="276EF1">
              <a:alpha val="86000"/>
            </a:srgbClr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9509760" y="3474720"/>
            <a:ext cx="2926080" cy="2926080"/>
          </a:xfrm>
          <a:prstGeom prst="ellipse">
            <a:avLst/>
          </a:prstGeom>
          <a:solidFill>
            <a:srgbClr val="F04F5F">
              <a:alpha val="92000"/>
            </a:srgbClr>
          </a:solidFill>
          <a:ln w="12700">
            <a:solidFill>
              <a:srgbClr val="F04F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A8B8D0"/>
                </a:solidFill>
              </a:rPr>
              <a:t>AUTOMATION  /  TEST PLANNING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Quality at speed,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without sacrificing trust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1EF"/>
                </a:solidFill>
              </a:rPr>
              <a:t>A Playwright + TypeScript approach to SauceDemo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0690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76EF1">
              <a:alpha val="12000"/>
            </a:srgbClr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Text 7"/>
          <p:cNvSpPr/>
          <p:nvPr/>
        </p:nvSpPr>
        <p:spPr>
          <a:xfrm>
            <a:off x="685800" y="4078224"/>
            <a:ext cx="13258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6EF1"/>
                </a:solidFill>
              </a:rPr>
              <a:t>PLAYWRIGHT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406908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19A974">
              <a:alpha val="12000"/>
            </a:srgbClr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2148840" y="4078224"/>
            <a:ext cx="12984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A974"/>
                </a:solidFill>
              </a:rPr>
              <a:t>TYPESCRIPT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84448" y="4069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04F5F">
              <a:alpha val="12000"/>
            </a:srgbClr>
          </a:solidFill>
          <a:ln w="12700">
            <a:solidFill>
              <a:srgbClr val="F04F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1"/>
          <p:cNvSpPr/>
          <p:nvPr/>
        </p:nvSpPr>
        <p:spPr>
          <a:xfrm>
            <a:off x="3584448" y="4078224"/>
            <a:ext cx="14173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4F5F"/>
                </a:solidFill>
              </a:rPr>
              <a:t>6/6 PASSING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5742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Peter Zsilak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6099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0"/>
                </a:solidFill>
              </a:rPr>
              <a:t>Test Automation Engineer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01 · AUTOMATION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Why Playwright + TypeScript?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A pragmatic choice for fast, cross-browser, maintainable UI feedback.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755648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64008" cy="41148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758952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Why this stack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350008"/>
            <a:ext cx="320040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One API for Chromium, Firefox and WebKit</a:t>
            </a:r>
            <a:endParaRPr lang="en-US" sz="1150" dirty="0"/>
          </a:p>
          <a:p>
            <a:r>
              <a:rPr lang="en-US" sz="1150" dirty="0">
                <a:solidFill>
                  <a:srgbClr val="263247"/>
                </a:solidFill>
              </a:rPr>
              <a:t>Auto-waiting and web-first assertions reduce timing flakiness</a:t>
            </a:r>
          </a:p>
          <a:p>
            <a:endParaRPr lang="en-US" sz="1150" dirty="0"/>
          </a:p>
          <a:p>
            <a:r>
              <a:rPr lang="en-US" sz="1150" dirty="0">
                <a:solidFill>
                  <a:srgbClr val="263247"/>
                </a:solidFill>
              </a:rPr>
              <a:t>Isolated browser contexts enable safe parallel </a:t>
            </a:r>
          </a:p>
          <a:p>
            <a:r>
              <a:rPr lang="en-US" sz="1150" dirty="0">
                <a:solidFill>
                  <a:srgbClr val="263247"/>
                </a:solidFill>
              </a:rPr>
              <a:t>execution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Tracing, screenshots and HTML reports shorten diagnosis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Strict TypeScript turns many test defects into compile-time feedback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1755648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4288536" y="1755648"/>
            <a:ext cx="64008" cy="411480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4517136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Trade-offs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7136" y="2350008"/>
            <a:ext cx="320040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UI tests are slower and more brittle than API/unit tests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Cross-browser runs increase CI time and infrastructure cost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Selectors still depend on product-side accessibility/test hooks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Parallel execution requires independent data and state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Framework abstractions can become over-engineered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55648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8046720" y="1755648"/>
            <a:ext cx="64008" cy="4114800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827532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How I mitigate them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2350008"/>
            <a:ext cx="320040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Keep a small, risk-based end-to-end layer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Use stable test IDs and scoped Page Objects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Prefer API/state setup when UI setup adds no value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Run focused projects locally; full matrix in CI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Use fixtures and reusable containers without hiding assertions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02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Layered for clarity, injected for change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Tests express business intent; fixtures wire dependencies; Page Objects own UI mechanics.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18745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Specs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AAA flow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Business assertions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24328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Shape 7"/>
          <p:cNvSpPr/>
          <p:nvPr/>
        </p:nvSpPr>
        <p:spPr>
          <a:xfrm>
            <a:off x="2907792" y="2176272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0" name="Text 8"/>
          <p:cNvSpPr/>
          <p:nvPr/>
        </p:nvSpPr>
        <p:spPr>
          <a:xfrm>
            <a:off x="3017520" y="23957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Auth fixture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Auto login/logout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Fresh context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Shape 11"/>
          <p:cNvSpPr/>
          <p:nvPr/>
        </p:nvSpPr>
        <p:spPr>
          <a:xfrm>
            <a:off x="5285232" y="2176272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4" name="Text 12"/>
          <p:cNvSpPr/>
          <p:nvPr/>
        </p:nvSpPr>
        <p:spPr>
          <a:xfrm>
            <a:off x="5394960" y="23957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Page fixture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Dependency injection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Typed contracts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Shape 15"/>
          <p:cNvSpPr/>
          <p:nvPr/>
        </p:nvSpPr>
        <p:spPr>
          <a:xfrm>
            <a:off x="7699248" y="2176272"/>
            <a:ext cx="1828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7808976" y="239572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Page Objects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08976" y="278892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Actions + locators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No assertions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37776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Shape 19"/>
          <p:cNvSpPr/>
          <p:nvPr/>
        </p:nvSpPr>
        <p:spPr>
          <a:xfrm>
            <a:off x="9930384" y="2176272"/>
            <a:ext cx="1600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Text 20"/>
          <p:cNvSpPr/>
          <p:nvPr/>
        </p:nvSpPr>
        <p:spPr>
          <a:xfrm>
            <a:off x="10040112" y="239572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Containers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40112" y="278892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Reusable widgets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Scoped roots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57400" y="4251960"/>
            <a:ext cx="8074152" cy="1051560"/>
          </a:xfrm>
          <a:prstGeom prst="roundRect">
            <a:avLst>
              <a:gd name="adj" fmla="val 6957"/>
            </a:avLst>
          </a:prstGeom>
          <a:solidFill>
            <a:srgbClr val="EAF0F8"/>
          </a:solidFill>
          <a:ln w="12700">
            <a:solidFill>
              <a:srgbClr val="CFDBE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3"/>
          <p:cNvSpPr/>
          <p:nvPr/>
        </p:nvSpPr>
        <p:spPr>
          <a:xfrm>
            <a:off x="2286000" y="4498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A"/>
                </a:solidFill>
              </a:rPr>
              <a:t>Cross-cutting support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05072" y="44531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76EF1">
              <a:alpha val="12000"/>
            </a:srgbClr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5"/>
          <p:cNvSpPr/>
          <p:nvPr/>
        </p:nvSpPr>
        <p:spPr>
          <a:xfrm>
            <a:off x="4005072" y="4462272"/>
            <a:ext cx="14173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6EF1"/>
                </a:solidFill>
              </a:rPr>
              <a:t>Config &amp; enums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96128" y="445312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19A974">
              <a:alpha val="12000"/>
            </a:srgbClr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Text 27"/>
          <p:cNvSpPr/>
          <p:nvPr/>
        </p:nvSpPr>
        <p:spPr>
          <a:xfrm>
            <a:off x="5596128" y="4462272"/>
            <a:ext cx="107899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A974"/>
                </a:solidFill>
              </a:rPr>
              <a:t>Services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39712" y="445312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4A340">
              <a:alpha val="12000"/>
            </a:srgbClr>
          </a:solidFill>
          <a:ln w="12700">
            <a:solidFill>
              <a:srgbClr val="F4A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1" name="Text 29"/>
          <p:cNvSpPr/>
          <p:nvPr/>
        </p:nvSpPr>
        <p:spPr>
          <a:xfrm>
            <a:off x="6839712" y="446227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340"/>
                </a:solidFill>
              </a:rPr>
              <a:t>Utilities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01584" y="445312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04F5F">
              <a:alpha val="12000"/>
            </a:srgbClr>
          </a:solidFill>
          <a:ln w="12700">
            <a:solidFill>
              <a:srgbClr val="F04F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1"/>
          <p:cNvSpPr/>
          <p:nvPr/>
        </p:nvSpPr>
        <p:spPr>
          <a:xfrm>
            <a:off x="8101584" y="4462272"/>
            <a:ext cx="17373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4F5F"/>
                </a:solidFill>
              </a:rPr>
              <a:t>Tags &amp; environments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40280" y="565099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58A"/>
                </a:solidFill>
              </a:rPr>
              <a:t>Design goal: each layer has one reason to change and can be replaced independently.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03 · TEST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Small suite, meaningful signals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Six independent tests cover three business risks across desktop and mobile tags.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6EF1"/>
                </a:solidFill>
              </a:rPr>
              <a:t>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tests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4F5F"/>
                </a:solidFill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business flows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9A974"/>
                </a:solidFill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browser projects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235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340"/>
                </a:solidFill>
              </a:rPr>
              <a:t>2.9s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2356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Chromium run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2668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6EF1"/>
                </a:solidFill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latest pass 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64008" cy="260604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Cart integrity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3017520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Add three products, remove one, verify badge count and exact remaining contents.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70832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0" name="Shape 18"/>
          <p:cNvSpPr/>
          <p:nvPr/>
        </p:nvSpPr>
        <p:spPr>
          <a:xfrm>
            <a:off x="4370832" y="2880360"/>
            <a:ext cx="64008" cy="260604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4599432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Checkout confidence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99432" y="3474720"/>
            <a:ext cx="3017520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Verify selected products, payment/shipping data, subtotal calculation and completion confirmation.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4" name="Shape 22"/>
          <p:cNvSpPr/>
          <p:nvPr/>
        </p:nvSpPr>
        <p:spPr>
          <a:xfrm>
            <a:off x="8046720" y="2880360"/>
            <a:ext cx="64008" cy="2606040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3"/>
          <p:cNvSpPr/>
          <p:nvPr/>
        </p:nvSpPr>
        <p:spPr>
          <a:xfrm>
            <a:off x="827532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Sorting correctness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75320" y="3474720"/>
            <a:ext cx="3017520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One data-driven model expands into four independent cases: name and price, ascending and descending.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5806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3A"/>
                </a:solidFill>
              </a:rPr>
              <a:t>Principles applied: F.I.R.S.T. · Arrange–Act–Assert · web-first assertions · context-rich failures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04 · TEST 3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Validate the result, not the 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The UI order is captured, independently sorted in memory, then compared as an exact sequence.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6629400" cy="4343400"/>
          </a:xfrm>
          <a:prstGeom prst="roundRect">
            <a:avLst>
              <a:gd name="adj" fmla="val 1263"/>
            </a:avLst>
          </a:prstGeom>
          <a:solidFill>
            <a:srgbClr val="0D1524"/>
          </a:solidFill>
          <a:ln w="12700">
            <a:solidFill>
              <a:srgbClr val="25334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A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inventory-sort.spec.ts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614476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names = await inventoryPage.getItemNames();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sortedNames = [...names].sort((a, b) =&gt;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sortCase.sort === ProductSort.NAME_ASC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? a.localeCompare(b)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: b.localeCompare(a),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expect(names, sortCase.assertionMessage)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.toEqual(sortedNames);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prices = await inventoryPage.getItemPrices();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sortedPrices = [...prices].sort((a, b) =&gt;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sortCase.sort === ProductSort.PRICE_ASC ? a - b : b - a,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expect(prices, sortCase.assertionMessage)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.toEqual(sortedPrices);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7543800" y="171907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Shape 7"/>
          <p:cNvSpPr/>
          <p:nvPr/>
        </p:nvSpPr>
        <p:spPr>
          <a:xfrm>
            <a:off x="7543800" y="1719072"/>
            <a:ext cx="64008" cy="1207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0" name="Text 8"/>
          <p:cNvSpPr/>
          <p:nvPr/>
        </p:nvSpPr>
        <p:spPr>
          <a:xfrm>
            <a:off x="777240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1 · Observe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2313432"/>
            <a:ext cx="3566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Read the ordered values exposed by the UI.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309067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3" name="Shape 11"/>
          <p:cNvSpPr/>
          <p:nvPr/>
        </p:nvSpPr>
        <p:spPr>
          <a:xfrm>
            <a:off x="7543800" y="3090672"/>
            <a:ext cx="64008" cy="1207008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4" name="Text 12"/>
          <p:cNvSpPr/>
          <p:nvPr/>
        </p:nvSpPr>
        <p:spPr>
          <a:xfrm>
            <a:off x="777240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2 · Build an oracle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3685032"/>
            <a:ext cx="3566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Clone the array, then sort names or numeric prices independently.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43800" y="446227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7" name="Shape 15"/>
          <p:cNvSpPr/>
          <p:nvPr/>
        </p:nvSpPr>
        <p:spPr>
          <a:xfrm>
            <a:off x="7543800" y="4462272"/>
            <a:ext cx="64008" cy="1207008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7772400" y="4645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3 · Compare exact order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5056632"/>
            <a:ext cx="3566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Equality catches misplaced, missing or duplicated values—not just endpoints.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05 · 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A repeatable two-minute demo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Run the same gates locally that protect the suite in CI.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983480" cy="3493008"/>
          </a:xfrm>
          <a:prstGeom prst="roundRect">
            <a:avLst>
              <a:gd name="adj" fmla="val 1571"/>
            </a:avLst>
          </a:prstGeom>
          <a:solidFill>
            <a:srgbClr val="0D1524"/>
          </a:solidFill>
          <a:ln w="12700">
            <a:solidFill>
              <a:srgbClr val="25334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4805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npm run check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✓ TypeScript strict check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✓ ESLint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npm test -- --project=desktop-chromium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Running 6 tests using 6 workers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✓ 6 passed (2.9s)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npm run show-report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4406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64008" cy="10424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Text 7"/>
          <p:cNvSpPr/>
          <p:nvPr/>
        </p:nvSpPr>
        <p:spPr>
          <a:xfrm>
            <a:off x="62179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Live 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Quality gates → Chromium suite → HTML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3017520"/>
            <a:ext cx="54406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10"/>
          <p:cNvSpPr/>
          <p:nvPr/>
        </p:nvSpPr>
        <p:spPr>
          <a:xfrm>
            <a:off x="5989320" y="3017520"/>
            <a:ext cx="64008" cy="1042416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What I narrate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Isolation, parallel workers, business assertions and actionable diagnostics.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4251960"/>
            <a:ext cx="54406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4"/>
          <p:cNvSpPr/>
          <p:nvPr/>
        </p:nvSpPr>
        <p:spPr>
          <a:xfrm>
            <a:off x="5989320" y="4251960"/>
            <a:ext cx="64008" cy="1042416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5"/>
          <p:cNvSpPr/>
          <p:nvPr/>
        </p:nvSpPr>
        <p:spPr>
          <a:xfrm>
            <a:off x="62179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Fallback evidence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HTML report plus retry trace/screenshots if live connectivity is unavailable.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806440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3A"/>
                </a:solidFill>
              </a:rPr>
              <a:t>Latest local evidence: 6/6 passing · desktop Chromium · 15 Jul 2026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06 · TEST PLANNING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Risk first, then coverage depth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Start with user impact and business rules; automate stable, high-value paths.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00784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64008" cy="425196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822960" y="1883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Functional 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95144"/>
            <a:ext cx="3154680" cy="3483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All four sort options produce the expected sequence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Cart add/remove updates count and contents atomically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Checkout preserves products and computes subtotal correctly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Completion occurs only after valid customer information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700784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4315968" y="1700784"/>
            <a:ext cx="64008" cy="425196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4544568" y="1883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Edge cases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295144"/>
            <a:ext cx="3154680" cy="3483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Duplicate names or equal prices remain complete and stable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One item, empty inventory and very long product names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Decimal prices, zero price and localized currency formatting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State after refresh, back navigation and repeated sorting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37576" y="1700784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8037576" y="1700784"/>
            <a:ext cx="64008" cy="425196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8266176" y="1883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Negative cases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66176" y="2295144"/>
            <a:ext cx="3154680" cy="3483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Missing/invalid checkout fields block progression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Session expiry during cart or checkout is handled safely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Inventory/API failure shows an actionable error </a:t>
            </a:r>
          </a:p>
          <a:p>
            <a:r>
              <a:rPr lang="en-US" sz="1150" dirty="0">
                <a:solidFill>
                  <a:srgbClr val="263247"/>
                </a:solidFill>
              </a:rPr>
              <a:t>state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Duplicate clicks do not add or submit twice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07 · PRODUCT ALIGNMENT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Questions before I lock the test oracle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Acceptance criteria define “what”; these questions remove ambiguity around “exactly how”.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2120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What is the default sort order—and should it persist after refresh, navigation or login?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Are names sorted case-insensitively, by locale, or by raw Unicode order?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For equal names/prices, is stable ordering required? What is the tie-breaker?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Does “price” mean displayed base price, discounted price, tax-inclusive price or localized value?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Should unavailable/out-of-stock products participate in sorting?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737360"/>
            <a:ext cx="52120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What happens if inventory changes while the user is sorting or checking out?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Which devices, browsers, locales and accessibility standards are in scope?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What error/retry behavior is expected when APIs time out or partially fail?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Which flows are release-blocking, and what is the acceptable performance threshold?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What analytics or audit events must be emitted for sorting, cart and purchase actions?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53328" y="1783080"/>
            <a:ext cx="0" cy="4251960"/>
          </a:xfrm>
          <a:prstGeom prst="line">
            <a:avLst/>
          </a:prstGeom>
          <a:noFill/>
          <a:ln w="1524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08 · QUALITY BEYOND FUNCTIONAL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Confidence is broader than “the click worked”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Use the right test layer for each risk—and be transparent about acceleration tools.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" cy="117043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Accessibility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Keyboard order, semantics, focus, contrast, axe scan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64208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4389120" y="1664208"/>
            <a:ext cx="64008" cy="1170432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4617720" y="184708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API &amp; contract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258568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Schema, status/error mapping, idempotency, data integrity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64208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8183880" y="1664208"/>
            <a:ext cx="64008" cy="1170432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8412480" y="184708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258568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Core Web Vitals, sort responsiveness, checkout latency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054096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Shape 16"/>
          <p:cNvSpPr/>
          <p:nvPr/>
        </p:nvSpPr>
        <p:spPr>
          <a:xfrm>
            <a:off x="594360" y="3054096"/>
            <a:ext cx="64008" cy="1170432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Text 17"/>
          <p:cNvSpPr/>
          <p:nvPr/>
        </p:nvSpPr>
        <p:spPr>
          <a:xfrm>
            <a:off x="822960" y="32369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Visual &amp; responsive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648456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Layout at breakpoints, clipping, long/localized content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054096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2" name="Shape 20"/>
          <p:cNvSpPr/>
          <p:nvPr/>
        </p:nvSpPr>
        <p:spPr>
          <a:xfrm>
            <a:off x="4389120" y="3054096"/>
            <a:ext cx="64008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1"/>
          <p:cNvSpPr/>
          <p:nvPr/>
        </p:nvSpPr>
        <p:spPr>
          <a:xfrm>
            <a:off x="4617720" y="32369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Security &amp; privacy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3648456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Session handling, sensitive data, authorization boundaries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83880" y="3054096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6" name="Shape 24"/>
          <p:cNvSpPr/>
          <p:nvPr/>
        </p:nvSpPr>
        <p:spPr>
          <a:xfrm>
            <a:off x="8183880" y="3054096"/>
            <a:ext cx="64008" cy="1170432"/>
          </a:xfrm>
          <a:prstGeom prst="rect">
            <a:avLst/>
          </a:prstGeom>
          <a:solidFill>
            <a:srgbClr val="2F7D8C"/>
          </a:solidFill>
          <a:ln w="12700">
            <a:solidFill>
              <a:srgbClr val="2F7D8C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5"/>
          <p:cNvSpPr/>
          <p:nvPr/>
        </p:nvSpPr>
        <p:spPr>
          <a:xfrm>
            <a:off x="8412480" y="32369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Reliability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3648456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Network loss, retries, concurrency, observability and recovery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681728"/>
            <a:ext cx="11137392" cy="1078992"/>
          </a:xfrm>
          <a:prstGeom prst="roundRect">
            <a:avLst>
              <a:gd name="adj" fmla="val 508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0" name="Text 28"/>
          <p:cNvSpPr/>
          <p:nvPr/>
        </p:nvSpPr>
        <p:spPr>
          <a:xfrm>
            <a:off x="868680" y="4919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transparency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14600" y="4837176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AF3"/>
                </a:solidFill>
              </a:rPr>
              <a:t>Used AI to accelerate architecture review, test-plan ideation and presentation drafting. I verified the code, assertions, commands and final outputs myself—and can explain every decision.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6053328"/>
            <a:ext cx="11137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43A"/>
                </a:solidFill>
              </a:rPr>
              <a:t>Thank you  ·  Questions?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1145</Words>
  <Application>Microsoft Macintosh PowerPoint</Application>
  <PresentationFormat>Widescreen</PresentationFormat>
  <Paragraphs>215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Candidate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&amp; Test Planning — SauceDemo</dc:title>
  <dc:subject>Automation and Test Planning</dc:subject>
  <dc:creator>Peter Zsilak</dc:creator>
  <cp:lastModifiedBy>Peter Zsilak</cp:lastModifiedBy>
  <cp:revision>4</cp:revision>
  <dcterms:created xsi:type="dcterms:W3CDTF">2026-07-15T12:52:41Z</dcterms:created>
  <dcterms:modified xsi:type="dcterms:W3CDTF">2026-07-15T13:11:45Z</dcterms:modified>
</cp:coreProperties>
</file>